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6822F1-947A-49DA-B9BE-4F3F21F19E06}">
  <a:tblStyle styleId="{186822F1-947A-49DA-B9BE-4F3F21F19E0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Mon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409cd875fdb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409cd875fdb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409cd875fdb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409cd875fdb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409cd875fd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409cd875fdb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github.com/Shruti-Halle/finwise-ai-digital-financial-literac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13"/>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13"/>
          <p:cNvGraphicFramePr/>
          <p:nvPr/>
        </p:nvGraphicFramePr>
        <p:xfrm>
          <a:off x="1299257" y="2600315"/>
          <a:ext cx="3000000" cy="3000000"/>
        </p:xfrm>
        <a:graphic>
          <a:graphicData uri="http://schemas.openxmlformats.org/drawingml/2006/table">
            <a:tbl>
              <a:tblPr>
                <a:noFill/>
                <a:tableStyleId>{186822F1-947A-49DA-B9BE-4F3F21F19E06}</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Shruti Mallikarjun Halle</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Shrutihalle2@gmail.com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8459324097</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13" title="me.jpg"/>
          <p:cNvPicPr preferRelativeResize="0"/>
          <p:nvPr/>
        </p:nvPicPr>
        <p:blipFill rotWithShape="1">
          <a:blip r:embed="rId3">
            <a:alphaModFix/>
          </a:blip>
          <a:srcRect b="21136" l="0" r="0" t="0"/>
          <a:stretch/>
        </p:blipFill>
        <p:spPr>
          <a:xfrm>
            <a:off x="4053024" y="3738417"/>
            <a:ext cx="762499" cy="801811"/>
          </a:xfrm>
          <a:prstGeom prst="rect">
            <a:avLst/>
          </a:prstGeom>
          <a:noFill/>
          <a:ln>
            <a:noFill/>
          </a:ln>
        </p:spPr>
      </p:pic>
      <p:sp>
        <p:nvSpPr>
          <p:cNvPr id="88" name="Google Shape;88;p13"/>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lang="en-US" sz="2400">
                <a:highlight>
                  <a:srgbClr val="FFFF00"/>
                </a:highlight>
              </a:rPr>
              <a:t>Finance / Financial Literacy </a:t>
            </a:r>
            <a:endParaRPr b="1" i="0" sz="2400" u="none" cap="none" strike="noStrike">
              <a:solidFill>
                <a:srgbClr val="000000"/>
              </a:solidFill>
              <a:highlight>
                <a:srgbClr val="FFFF00"/>
              </a:highlight>
              <a:latin typeface="Arial"/>
              <a:ea typeface="Arial"/>
              <a:cs typeface="Arial"/>
              <a:sym typeface="Arial"/>
            </a:endParaRPr>
          </a:p>
        </p:txBody>
      </p:sp>
      <p:sp>
        <p:nvSpPr>
          <p:cNvPr id="89" name="Google Shape;89;p13"/>
          <p:cNvSpPr txBox="1"/>
          <p:nvPr/>
        </p:nvSpPr>
        <p:spPr>
          <a:xfrm>
            <a:off x="1206150" y="551975"/>
            <a:ext cx="1057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lang="en-US" sz="2400">
                <a:highlight>
                  <a:srgbClr val="FFFF00"/>
                </a:highlight>
              </a:rPr>
              <a:t>A</a:t>
            </a:r>
            <a:r>
              <a:rPr b="1" lang="en-US" sz="2400">
                <a:highlight>
                  <a:srgbClr val="FFFF00"/>
                </a:highlight>
              </a:rPr>
              <a:t>I-Powered Digital Financial Literacy A</a:t>
            </a:r>
            <a:r>
              <a:rPr b="1" lang="en-US" sz="2400">
                <a:highlight>
                  <a:srgbClr val="FFFF00"/>
                </a:highlight>
              </a:rPr>
              <a:t>gent-FinWise AI </a:t>
            </a:r>
            <a:endParaRPr b="1" i="0" sz="2400" u="none" cap="none" strike="noStrike">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278725" y="955822"/>
            <a:ext cx="10607100" cy="6191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1700">
                <a:solidFill>
                  <a:schemeClr val="dk1"/>
                </a:solidFill>
              </a:rPr>
              <a:t>The Challenge</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Digital financial services such as UPI, online banking, digital wallets, loans, and online payments have become part of everyday life. However, many users are not fully aware of safe digital payment practices, financial fraud prevention, budgeting, saving, and basic financial concepts.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Users often receive financial information from unreliable sources, which can lead to confusion, scams, unsafe transactions, or poor financial decisions. There is a need for a simple and trustworthy AI-based solution that provides financial education in an easy-to-understand way.</a:t>
            </a: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700">
                <a:solidFill>
                  <a:schemeClr val="dk1"/>
                </a:solidFill>
              </a:rPr>
              <a:t>The Objective</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Build an </a:t>
            </a:r>
            <a:r>
              <a:rPr b="1" lang="en-US" sz="1500">
                <a:solidFill>
                  <a:schemeClr val="dk1"/>
                </a:solidFill>
              </a:rPr>
              <a:t>AI-powered Digital Financial Literacy Agent</a:t>
            </a:r>
            <a:r>
              <a:rPr lang="en-US" sz="1500">
                <a:solidFill>
                  <a:schemeClr val="dk1"/>
                </a:solidFill>
              </a:rPr>
              <a:t> that:</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Explains UPI and digital payments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Provides online scam and fraud awareness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Helps users understand budgeting and saving</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Explains loans and interest rates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Promotes safe digital banking practices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Provides beginner-friendly financial education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Helps users make informed financial decisions</a:t>
            </a:r>
            <a:endParaRPr sz="1500">
              <a:solidFill>
                <a:schemeClr val="dk1"/>
              </a:solidFill>
            </a:endParaRPr>
          </a:p>
          <a:p>
            <a:pPr indent="0" lvl="0" marL="457200" marR="0" rtl="0" algn="l">
              <a:lnSpc>
                <a:spcPct val="100000"/>
              </a:lnSpc>
              <a:spcBef>
                <a:spcPts val="1200"/>
              </a:spcBef>
              <a:spcAft>
                <a:spcPts val="0"/>
              </a:spcAft>
              <a:buNone/>
            </a:pPr>
            <a:r>
              <a:t/>
            </a:r>
            <a:endParaRPr b="1" sz="1800"/>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95" name="Google Shape;95;p14"/>
          <p:cNvSpPr txBox="1"/>
          <p:nvPr/>
        </p:nvSpPr>
        <p:spPr>
          <a:xfrm>
            <a:off x="278726" y="-9"/>
            <a:ext cx="95502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r>
              <a:rPr b="1" lang="en-US" sz="2400">
                <a:solidFill>
                  <a:schemeClr val="dk1"/>
                </a:solidFill>
              </a:rPr>
              <a:t>AI Agent for Digital Financial Literacy</a:t>
            </a:r>
            <a:endParaRPr b="1" sz="2400">
              <a:solidFill>
                <a:schemeClr val="dk1"/>
              </a:solidFill>
            </a:endParaRPr>
          </a:p>
          <a:p>
            <a:pPr indent="0" lvl="0" marL="0" marR="0" rtl="0" algn="l">
              <a:lnSpc>
                <a:spcPct val="100000"/>
              </a:lnSpc>
              <a:spcBef>
                <a:spcPts val="0"/>
              </a:spcBef>
              <a:spcAft>
                <a:spcPts val="0"/>
              </a:spcAft>
              <a:buNone/>
            </a:pPr>
            <a:r>
              <a:t/>
            </a:r>
            <a:endParaRPr b="1"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576075" y="1165749"/>
            <a:ext cx="10607100" cy="6030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FinWise AI</a:t>
            </a:r>
            <a:r>
              <a:rPr lang="en-US" sz="1600">
                <a:solidFill>
                  <a:schemeClr val="dk1"/>
                </a:solidFill>
              </a:rPr>
              <a:t> is an AI-powered digital financial literacy agent designed to educate users about everyday financial topics in a simple, practical, and responsible manner.</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The agent uses a </a:t>
            </a:r>
            <a:r>
              <a:rPr b="1" lang="en-US" sz="1600">
                <a:solidFill>
                  <a:schemeClr val="dk1"/>
                </a:solidFill>
              </a:rPr>
              <a:t>knowledge-based approach</a:t>
            </a:r>
            <a:r>
              <a:rPr lang="en-US" sz="1600">
                <a:solidFill>
                  <a:schemeClr val="dk1"/>
                </a:solidFill>
              </a:rPr>
              <a:t> to provide information on UPI, digital payments, online scams, budgeting, savings, loans, interest rates, and banking safety.</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Users can interact with the agent using natural language and receive step-by-step explanations. The system focuses on financial education rather than making personalized investment decisions or guaranteeing financial outcomes.</a:t>
            </a:r>
            <a:endParaRPr sz="16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800">
                <a:solidFill>
                  <a:schemeClr val="dk1"/>
                </a:solidFill>
              </a:rPr>
              <a:t>Key Features</a:t>
            </a:r>
            <a:endParaRPr b="1" sz="18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 UPI &amp; Digital Payment Education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Scam &amp; Fraud Prevention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Budgeting &amp; Saving Guidance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Digital Banking Safety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Personal Finance Basics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Loan &amp; Interest Rate Education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Beginner-Friendly Interaction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AI-Powered Assistance</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0" marR="0" rtl="0" algn="l">
              <a:lnSpc>
                <a:spcPct val="100000"/>
              </a:lnSpc>
              <a:spcBef>
                <a:spcPts val="0"/>
              </a:spcBef>
              <a:spcAft>
                <a:spcPts val="0"/>
              </a:spcAft>
              <a:buNone/>
            </a:pPr>
            <a:r>
              <a:t/>
            </a:r>
            <a:endParaRPr b="1" sz="1900"/>
          </a:p>
        </p:txBody>
      </p:sp>
      <p:sp>
        <p:nvSpPr>
          <p:cNvPr id="101" name="Google Shape;101;p15"/>
          <p:cNvSpPr txBox="1"/>
          <p:nvPr/>
        </p:nvSpPr>
        <p:spPr>
          <a:xfrm>
            <a:off x="576072" y="704088"/>
            <a:ext cx="7214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r>
              <a:rPr b="1" i="0" lang="en-US" sz="2800" u="none" cap="none" strike="noStrike">
                <a:solidFill>
                  <a:srgbClr val="000000"/>
                </a:solidFill>
                <a:latin typeface="Arial"/>
                <a:ea typeface="Arial"/>
                <a:cs typeface="Arial"/>
                <a:sym typeface="Arial"/>
              </a:rPr>
              <a:t>-</a:t>
            </a:r>
            <a:r>
              <a:rPr b="1" lang="en-US" sz="2200">
                <a:solidFill>
                  <a:schemeClr val="dk1"/>
                </a:solidFill>
              </a:rPr>
              <a:t>FinWise AI</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16"/>
          <p:cNvSpPr txBox="1"/>
          <p:nvPr/>
        </p:nvSpPr>
        <p:spPr>
          <a:xfrm>
            <a:off x="777250" y="1207000"/>
            <a:ext cx="9776700" cy="5598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IBM Bob</a:t>
            </a:r>
            <a:br>
              <a:rPr b="1" lang="en-US" sz="1700">
                <a:solidFill>
                  <a:schemeClr val="dk1"/>
                </a:solidFill>
              </a:rPr>
            </a:br>
            <a:r>
              <a:rPr lang="en-US" sz="1700">
                <a:solidFill>
                  <a:schemeClr val="dk1"/>
                </a:solidFill>
              </a:rPr>
              <a:t> Used to develop the project and create the AI-powered application.</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IBM AI / Agentic AI</a:t>
            </a:r>
            <a:br>
              <a:rPr b="1" lang="en-US" sz="1700">
                <a:solidFill>
                  <a:schemeClr val="dk1"/>
                </a:solidFill>
              </a:rPr>
            </a:br>
            <a:r>
              <a:rPr lang="en-US" sz="1700">
                <a:solidFill>
                  <a:schemeClr val="dk1"/>
                </a:solidFill>
              </a:rPr>
              <a:t> Used to provide intelligent, conversational assistance and automate responses to user queries.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Knowledge Base / RAG Approach</a:t>
            </a:r>
            <a:br>
              <a:rPr b="1" lang="en-US" sz="1700">
                <a:solidFill>
                  <a:schemeClr val="dk1"/>
                </a:solidFill>
              </a:rPr>
            </a:br>
            <a:r>
              <a:rPr lang="en-US" sz="1700">
                <a:solidFill>
                  <a:schemeClr val="dk1"/>
                </a:solidFill>
              </a:rPr>
              <a:t> The agent uses a connected financial-literacy knowledge source to retrieve relevant information before generating responses.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HTML, CSS &amp; JavaScript</a:t>
            </a:r>
            <a:br>
              <a:rPr b="1" lang="en-US" sz="1700">
                <a:solidFill>
                  <a:schemeClr val="dk1"/>
                </a:solidFill>
              </a:rPr>
            </a:br>
            <a:r>
              <a:rPr lang="en-US" sz="1700">
                <a:solidFill>
                  <a:schemeClr val="dk1"/>
                </a:solidFill>
              </a:rPr>
              <a:t> Used for the user-facing website interface.</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IBM Cloud / watsonx Orchestrate</a:t>
            </a:r>
            <a:br>
              <a:rPr b="1" lang="en-US" sz="1700">
                <a:solidFill>
                  <a:schemeClr val="dk1"/>
                </a:solidFill>
              </a:rPr>
            </a:br>
            <a:r>
              <a:rPr lang="en-US" sz="1700">
                <a:solidFill>
                  <a:schemeClr val="dk1"/>
                </a:solidFill>
              </a:rPr>
              <a:t> Used where applicable for deploying and interacting with the AI agent.</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Trusted Financial Sources</a:t>
            </a:r>
            <a:br>
              <a:rPr b="1" lang="en-US" sz="1700">
                <a:solidFill>
                  <a:schemeClr val="dk1"/>
                </a:solidFill>
              </a:rPr>
            </a:br>
            <a:r>
              <a:rPr lang="en-US" sz="1700">
                <a:solidFill>
                  <a:schemeClr val="dk1"/>
                </a:solidFill>
              </a:rPr>
              <a:t> The knowledge content focuses on reliable sources such as RBI, NPCI, SEBI and government financial-safety resources.</a:t>
            </a:r>
            <a:endParaRPr sz="1700">
              <a:solidFill>
                <a:schemeClr val="dk1"/>
              </a:solidFill>
            </a:endParaRPr>
          </a:p>
          <a:p>
            <a:pPr indent="0" lvl="0" marL="0" marR="0" rtl="0" algn="l">
              <a:lnSpc>
                <a:spcPct val="100000"/>
              </a:lnSpc>
              <a:spcBef>
                <a:spcPts val="1200"/>
              </a:spcBef>
              <a:spcAft>
                <a:spcPts val="0"/>
              </a:spcAft>
              <a:buNone/>
            </a:pPr>
            <a:r>
              <a:t/>
            </a:r>
            <a:endParaRPr b="1"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Required Files created using IBM bob -</a:t>
            </a:r>
            <a:endParaRPr b="1" i="0" sz="2400" u="none" cap="none" strike="noStrike">
              <a:solidFill>
                <a:srgbClr val="000000"/>
              </a:solidFill>
              <a:latin typeface="Arial"/>
              <a:ea typeface="Arial"/>
              <a:cs typeface="Arial"/>
              <a:sym typeface="Arial"/>
            </a:endParaRPr>
          </a:p>
        </p:txBody>
      </p:sp>
      <p:sp>
        <p:nvSpPr>
          <p:cNvPr id="113" name="Google Shape;113;p1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1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1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1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1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1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17"/>
          <p:cNvSpPr txBox="1"/>
          <p:nvPr/>
        </p:nvSpPr>
        <p:spPr>
          <a:xfrm>
            <a:off x="474822" y="863187"/>
            <a:ext cx="8823900" cy="2277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Project Files: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 </a:t>
            </a:r>
            <a:r>
              <a:rPr lang="en-US" sz="1100">
                <a:solidFill>
                  <a:srgbClr val="188038"/>
                </a:solidFill>
                <a:latin typeface="Roboto Mono"/>
                <a:ea typeface="Roboto Mono"/>
                <a:cs typeface="Roboto Mono"/>
                <a:sym typeface="Roboto Mono"/>
              </a:rPr>
              <a:t>index.html</a:t>
            </a:r>
            <a:r>
              <a:rPr lang="en-US" sz="1100">
                <a:solidFill>
                  <a:schemeClr val="dk1"/>
                </a:solidFill>
              </a:rPr>
              <a:t> — Complete FinWise AI website, including HTML, CSS, JavaScript, and chatbot integration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 </a:t>
            </a:r>
            <a:r>
              <a:rPr lang="en-US" sz="1100">
                <a:solidFill>
                  <a:srgbClr val="188038"/>
                </a:solidFill>
                <a:latin typeface="Roboto Mono"/>
                <a:ea typeface="Roboto Mono"/>
                <a:cs typeface="Roboto Mono"/>
                <a:sym typeface="Roboto Mono"/>
              </a:rPr>
              <a:t>.env</a:t>
            </a:r>
            <a:r>
              <a:rPr lang="en-US" sz="1100">
                <a:solidFill>
                  <a:schemeClr val="dk1"/>
                </a:solidFill>
              </a:rPr>
              <a:t> — Environment/configuration variables required for the project</a:t>
            </a:r>
            <a:endParaRPr sz="1100">
              <a:solidFill>
                <a:schemeClr val="dk1"/>
              </a:solidFill>
            </a:endParaRPr>
          </a:p>
          <a:p>
            <a:pPr indent="0" lvl="0" marL="0" marR="0" rtl="0" algn="l">
              <a:lnSpc>
                <a:spcPct val="100000"/>
              </a:lnSpc>
              <a:spcBef>
                <a:spcPts val="1200"/>
              </a:spcBef>
              <a:spcAft>
                <a:spcPts val="0"/>
              </a:spcAft>
              <a:buNone/>
            </a:pPr>
            <a:r>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20" name="Google Shape;120;p17" title="code_ibm_bob.jpg"/>
          <p:cNvPicPr preferRelativeResize="0"/>
          <p:nvPr/>
        </p:nvPicPr>
        <p:blipFill rotWithShape="1">
          <a:blip r:embed="rId3">
            <a:alphaModFix/>
          </a:blip>
          <a:srcRect b="-1650" l="18923" r="17641" t="1650"/>
          <a:stretch/>
        </p:blipFill>
        <p:spPr>
          <a:xfrm>
            <a:off x="852325" y="1860500"/>
            <a:ext cx="11095477" cy="4512875"/>
          </a:xfrm>
          <a:prstGeom prst="rect">
            <a:avLst/>
          </a:prstGeom>
          <a:noFill/>
          <a:ln>
            <a:noFill/>
          </a:ln>
        </p:spPr>
      </p:pic>
      <p:sp>
        <p:nvSpPr>
          <p:cNvPr id="121" name="Google Shape;121;p17"/>
          <p:cNvSpPr/>
          <p:nvPr/>
        </p:nvSpPr>
        <p:spPr>
          <a:xfrm>
            <a:off x="1782600" y="3958350"/>
            <a:ext cx="8306700" cy="1587000"/>
          </a:xfrm>
          <a:prstGeom prst="rect">
            <a:avLst/>
          </a:prstGeom>
          <a:solidFill>
            <a:srgbClr val="E71224">
              <a:alpha val="5098"/>
            </a:srgbClr>
          </a:solidFill>
          <a:ln cap="flat" cmpd="sng" w="72000">
            <a:solidFill>
              <a:srgbClr val="E712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E71224"/>
              </a:solidFill>
              <a:latin typeface="Arial"/>
              <a:ea typeface="Arial"/>
              <a:cs typeface="Arial"/>
              <a:sym typeface="Arial"/>
            </a:endParaRPr>
          </a:p>
        </p:txBody>
      </p:sp>
      <p:sp>
        <p:nvSpPr>
          <p:cNvPr id="122" name="Google Shape;122;p17"/>
          <p:cNvSpPr/>
          <p:nvPr/>
        </p:nvSpPr>
        <p:spPr>
          <a:xfrm rot="8280103">
            <a:off x="8176134" y="3405978"/>
            <a:ext cx="923617" cy="338385"/>
          </a:xfrm>
          <a:prstGeom prst="rightArrow">
            <a:avLst>
              <a:gd fmla="val 50000" name="adj1"/>
              <a:gd fmla="val 50000" name="adj2"/>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8"/>
          <p:cNvPicPr preferRelativeResize="0"/>
          <p:nvPr/>
        </p:nvPicPr>
        <p:blipFill>
          <a:blip r:embed="rId3">
            <a:alphaModFix/>
          </a:blip>
          <a:stretch>
            <a:fillRect/>
          </a:stretch>
        </p:blipFill>
        <p:spPr>
          <a:xfrm>
            <a:off x="462550" y="313475"/>
            <a:ext cx="10477500" cy="600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 for IBM bob:</a:t>
            </a:r>
            <a:endParaRPr b="0" i="0" sz="2400" u="none" cap="none" strike="noStrike">
              <a:solidFill>
                <a:srgbClr val="000000"/>
              </a:solidFill>
              <a:latin typeface="Arial"/>
              <a:ea typeface="Arial"/>
              <a:cs typeface="Arial"/>
              <a:sym typeface="Arial"/>
            </a:endParaRPr>
          </a:p>
        </p:txBody>
      </p:sp>
      <p:pic>
        <p:nvPicPr>
          <p:cNvPr id="133" name="Google Shape;133;p19" title="52b7c531-f048-49db-858f-cc7d2952d40c.png"/>
          <p:cNvPicPr preferRelativeResize="0"/>
          <p:nvPr/>
        </p:nvPicPr>
        <p:blipFill rotWithShape="1">
          <a:blip r:embed="rId3">
            <a:alphaModFix/>
          </a:blip>
          <a:srcRect b="6722" l="-3479" r="-7657" t="1324"/>
          <a:stretch/>
        </p:blipFill>
        <p:spPr>
          <a:xfrm>
            <a:off x="924349" y="1006276"/>
            <a:ext cx="10133649" cy="5462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0"/>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39" name="Google Shape;139;p20"/>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40" name="Google Shape;140;p20"/>
          <p:cNvSpPr txBox="1"/>
          <p:nvPr/>
        </p:nvSpPr>
        <p:spPr>
          <a:xfrm>
            <a:off x="475492" y="868243"/>
            <a:ext cx="7406700" cy="6190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Agentic AI enables FinWise AI to understand a user's financial question, identify the relevant topic, retrieve appropriate information, and generate a useful response.</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The agent can handle different financial-literacy topics such as digital payments, fraud prevention, budgeting, savings, loans, and banking safety without requiring users to navigate complicated information sources.</a:t>
            </a:r>
            <a:endParaRPr sz="18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000">
                <a:solidFill>
                  <a:schemeClr val="dk1"/>
                </a:solidFill>
              </a:rPr>
              <a:t>Key Roles</a:t>
            </a:r>
            <a:endParaRPr b="1" sz="20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Understands natural-language questions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Identifies the user's financial topic</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Retrieves relevant knowledge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Generates clear explanations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Provides step-by-step guidance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Prioritizes financial safety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Avoids unsupported financial claims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Helps users make informed decisions</a:t>
            </a:r>
            <a:endParaRPr sz="1800">
              <a:solidFill>
                <a:schemeClr val="dk1"/>
              </a:solidFill>
            </a:endParaRPr>
          </a:p>
          <a:p>
            <a:pPr indent="0" lvl="0" marL="0" marR="0" rtl="0" algn="l">
              <a:lnSpc>
                <a:spcPct val="100000"/>
              </a:lnSpc>
              <a:spcBef>
                <a:spcPts val="1200"/>
              </a:spcBef>
              <a:spcAft>
                <a:spcPts val="0"/>
              </a:spcAft>
              <a:buNone/>
            </a:pPr>
            <a:r>
              <a:t/>
            </a:r>
            <a:endParaRPr b="1"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p:nvPr/>
        </p:nvSpPr>
        <p:spPr>
          <a:xfrm>
            <a:off x="793192" y="3415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Token Usage </a:t>
            </a:r>
            <a:endParaRPr b="1" i="0" sz="2400" u="none" cap="none" strike="noStrike">
              <a:solidFill>
                <a:srgbClr val="000000"/>
              </a:solidFill>
              <a:latin typeface="Arial"/>
              <a:ea typeface="Arial"/>
              <a:cs typeface="Arial"/>
              <a:sym typeface="Arial"/>
            </a:endParaRPr>
          </a:p>
        </p:txBody>
      </p:sp>
      <p:sp>
        <p:nvSpPr>
          <p:cNvPr id="146" name="Google Shape;146;p2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7" name="Google Shape;147;p2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8" name="Google Shape;148;p2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9" name="Google Shape;149;p21"/>
          <p:cNvSpPr txBox="1"/>
          <p:nvPr/>
        </p:nvSpPr>
        <p:spPr>
          <a:xfrm>
            <a:off x="897392" y="1042133"/>
            <a:ext cx="437117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t>142.5K </a:t>
            </a:r>
            <a:r>
              <a:rPr b="0" i="0" lang="en-US" sz="1400" u="none" cap="none" strike="noStrike">
                <a:solidFill>
                  <a:srgbClr val="000000"/>
                </a:solidFill>
                <a:latin typeface="Arial"/>
                <a:ea typeface="Arial"/>
                <a:cs typeface="Arial"/>
                <a:sym typeface="Arial"/>
              </a:rPr>
              <a:t> token are used </a:t>
            </a:r>
            <a:endParaRPr/>
          </a:p>
        </p:txBody>
      </p:sp>
      <p:pic>
        <p:nvPicPr>
          <p:cNvPr id="150" name="Google Shape;150;p21" title="photo_6127463287126431136_w.jpg"/>
          <p:cNvPicPr preferRelativeResize="0"/>
          <p:nvPr/>
        </p:nvPicPr>
        <p:blipFill rotWithShape="1">
          <a:blip r:embed="rId3">
            <a:alphaModFix/>
          </a:blip>
          <a:srcRect b="0" l="-2130" r="2130" t="11214"/>
          <a:stretch/>
        </p:blipFill>
        <p:spPr>
          <a:xfrm>
            <a:off x="1856175" y="2451175"/>
            <a:ext cx="10044399" cy="3820800"/>
          </a:xfrm>
          <a:prstGeom prst="rect">
            <a:avLst/>
          </a:prstGeom>
          <a:noFill/>
          <a:ln>
            <a:noFill/>
          </a:ln>
        </p:spPr>
      </p:pic>
      <p:sp>
        <p:nvSpPr>
          <p:cNvPr id="151" name="Google Shape;151;p21"/>
          <p:cNvSpPr txBox="1"/>
          <p:nvPr/>
        </p:nvSpPr>
        <p:spPr>
          <a:xfrm>
            <a:off x="1278639" y="1718067"/>
            <a:ext cx="274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sp>
        <p:nvSpPr>
          <p:cNvPr id="152" name="Google Shape;152;p21"/>
          <p:cNvSpPr txBox="1"/>
          <p:nvPr/>
        </p:nvSpPr>
        <p:spPr>
          <a:xfrm>
            <a:off x="4021849" y="1722925"/>
            <a:ext cx="2439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After the Prompt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58" name="Google Shape;158;p2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9" name="Google Shape;159;p2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0" name="Google Shape;160;p2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1" name="Google Shape;161;p22"/>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62" name="Google Shape;162;p22" title="firstpage.jpg"/>
          <p:cNvPicPr preferRelativeResize="0"/>
          <p:nvPr/>
        </p:nvPicPr>
        <p:blipFill rotWithShape="1">
          <a:blip r:embed="rId3">
            <a:alphaModFix/>
          </a:blip>
          <a:srcRect b="0" l="-670" r="670" t="0"/>
          <a:stretch/>
        </p:blipFill>
        <p:spPr>
          <a:xfrm>
            <a:off x="409144" y="885593"/>
            <a:ext cx="11163874" cy="571529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68" name="Google Shape;168;p23"/>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9" name="Google Shape;169;p23"/>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0" name="Google Shape;170;p23"/>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1" name="Google Shape;171;p23"/>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72" name="Google Shape;172;p23" title="secondpage.jpg"/>
          <p:cNvPicPr preferRelativeResize="0"/>
          <p:nvPr/>
        </p:nvPicPr>
        <p:blipFill rotWithShape="1">
          <a:blip r:embed="rId3">
            <a:alphaModFix/>
          </a:blip>
          <a:srcRect b="0" l="-842" r="2985" t="-6826"/>
          <a:stretch/>
        </p:blipFill>
        <p:spPr>
          <a:xfrm>
            <a:off x="294775" y="1004525"/>
            <a:ext cx="10760325" cy="55257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p:nvPr/>
        </p:nvSpPr>
        <p:spPr>
          <a:xfrm>
            <a:off x="409144" y="112960"/>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78" name="Google Shape;178;p24"/>
          <p:cNvSpPr/>
          <p:nvPr/>
        </p:nvSpPr>
        <p:spPr>
          <a:xfrm>
            <a:off x="1218724" y="3360216"/>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9" name="Google Shape;179;p24"/>
          <p:cNvSpPr/>
          <p:nvPr/>
        </p:nvSpPr>
        <p:spPr>
          <a:xfrm>
            <a:off x="1218724" y="4395464"/>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0" name="Google Shape;180;p24"/>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1" name="Google Shape;181;p24"/>
          <p:cNvSpPr txBox="1"/>
          <p:nvPr/>
        </p:nvSpPr>
        <p:spPr>
          <a:xfrm>
            <a:off x="1335024" y="1865376"/>
            <a:ext cx="6834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82" name="Google Shape;182;p24" title="fifthpage.jpg"/>
          <p:cNvPicPr preferRelativeResize="0"/>
          <p:nvPr/>
        </p:nvPicPr>
        <p:blipFill rotWithShape="1">
          <a:blip r:embed="rId3">
            <a:alphaModFix/>
          </a:blip>
          <a:srcRect b="0" l="4595" r="4595" t="0"/>
          <a:stretch/>
        </p:blipFill>
        <p:spPr>
          <a:xfrm>
            <a:off x="294775" y="1004525"/>
            <a:ext cx="10760324" cy="5525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5"/>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88" name="Google Shape;188;p25"/>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9" name="Google Shape;189;p25"/>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0" name="Google Shape;190;p25"/>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1" name="Google Shape;191;p25"/>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92" name="Google Shape;192;p25" title="thirdpage.jpg"/>
          <p:cNvPicPr preferRelativeResize="0"/>
          <p:nvPr/>
        </p:nvPicPr>
        <p:blipFill rotWithShape="1">
          <a:blip r:embed="rId3">
            <a:alphaModFix/>
          </a:blip>
          <a:srcRect b="-1495" l="-827" r="0" t="-3768"/>
          <a:stretch/>
        </p:blipFill>
        <p:spPr>
          <a:xfrm>
            <a:off x="409150" y="816975"/>
            <a:ext cx="11015525" cy="59280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p:nvPr/>
        </p:nvSpPr>
        <p:spPr>
          <a:xfrm>
            <a:off x="409144" y="112960"/>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98" name="Google Shape;198;p26"/>
          <p:cNvSpPr/>
          <p:nvPr/>
        </p:nvSpPr>
        <p:spPr>
          <a:xfrm>
            <a:off x="1218724" y="3360216"/>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9" name="Google Shape;199;p26"/>
          <p:cNvSpPr/>
          <p:nvPr/>
        </p:nvSpPr>
        <p:spPr>
          <a:xfrm>
            <a:off x="1218724" y="4395464"/>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00" name="Google Shape;200;p26"/>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01" name="Google Shape;201;p26"/>
          <p:cNvSpPr txBox="1"/>
          <p:nvPr/>
        </p:nvSpPr>
        <p:spPr>
          <a:xfrm>
            <a:off x="1335024" y="1865376"/>
            <a:ext cx="6834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202" name="Google Shape;202;p26" title="forthpage.jpg"/>
          <p:cNvPicPr preferRelativeResize="0"/>
          <p:nvPr/>
        </p:nvPicPr>
        <p:blipFill rotWithShape="1">
          <a:blip r:embed="rId3">
            <a:alphaModFix/>
          </a:blip>
          <a:srcRect b="0" l="6635" r="6627" t="0"/>
          <a:stretch/>
        </p:blipFill>
        <p:spPr>
          <a:xfrm>
            <a:off x="409150" y="816975"/>
            <a:ext cx="11015525" cy="5928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7"/>
          <p:cNvSpPr/>
          <p:nvPr/>
        </p:nvSpPr>
        <p:spPr>
          <a:xfrm>
            <a:off x="409144" y="112960"/>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208" name="Google Shape;208;p27"/>
          <p:cNvSpPr/>
          <p:nvPr/>
        </p:nvSpPr>
        <p:spPr>
          <a:xfrm>
            <a:off x="1218724" y="3360216"/>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09" name="Google Shape;209;p27"/>
          <p:cNvSpPr/>
          <p:nvPr/>
        </p:nvSpPr>
        <p:spPr>
          <a:xfrm>
            <a:off x="1218724" y="4395464"/>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10" name="Google Shape;210;p27"/>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11" name="Google Shape;211;p27"/>
          <p:cNvSpPr txBox="1"/>
          <p:nvPr/>
        </p:nvSpPr>
        <p:spPr>
          <a:xfrm>
            <a:off x="1335024" y="1865376"/>
            <a:ext cx="6834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212" name="Google Shape;212;p27" title="ibm_watsonx.jpg"/>
          <p:cNvPicPr preferRelativeResize="0"/>
          <p:nvPr/>
        </p:nvPicPr>
        <p:blipFill rotWithShape="1">
          <a:blip r:embed="rId3">
            <a:alphaModFix/>
          </a:blip>
          <a:srcRect b="1910" l="0" r="0" t="-1910"/>
          <a:stretch/>
        </p:blipFill>
        <p:spPr>
          <a:xfrm>
            <a:off x="409150" y="816975"/>
            <a:ext cx="11501474" cy="5928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218" name="Google Shape;218;p28"/>
          <p:cNvSpPr txBox="1"/>
          <p:nvPr/>
        </p:nvSpPr>
        <p:spPr>
          <a:xfrm>
            <a:off x="777240" y="1132158"/>
            <a:ext cx="11301900" cy="5987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FinWise AI combines </a:t>
            </a:r>
            <a:r>
              <a:rPr b="1" lang="en-US" sz="1600">
                <a:solidFill>
                  <a:schemeClr val="dk1"/>
                </a:solidFill>
              </a:rPr>
              <a:t>Agentic AI, financial knowledge retrieval, and digital-safety education</a:t>
            </a:r>
            <a:r>
              <a:rPr lang="en-US" sz="1600">
                <a:solidFill>
                  <a:schemeClr val="dk1"/>
                </a:solidFill>
              </a:rPr>
              <a:t> into one accessible platform.</a:t>
            </a:r>
            <a:endParaRPr sz="16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800">
                <a:solidFill>
                  <a:schemeClr val="dk1"/>
                </a:solidFill>
              </a:rPr>
              <a:t>Key Innovations</a:t>
            </a:r>
            <a:endParaRPr b="1"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1. AI-Powered Financial Education</a:t>
            </a:r>
            <a:br>
              <a:rPr b="1" lang="en-US" sz="1600">
                <a:solidFill>
                  <a:schemeClr val="dk1"/>
                </a:solidFill>
              </a:rPr>
            </a:br>
            <a:r>
              <a:rPr lang="en-US" sz="1600">
                <a:solidFill>
                  <a:schemeClr val="dk1"/>
                </a:solidFill>
              </a:rPr>
              <a:t> Provides instant explanations of common financial concepts.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2. Fraud Awareness</a:t>
            </a:r>
            <a:br>
              <a:rPr b="1" lang="en-US" sz="1600">
                <a:solidFill>
                  <a:schemeClr val="dk1"/>
                </a:solidFill>
              </a:rPr>
            </a:br>
            <a:r>
              <a:rPr lang="en-US" sz="1600">
                <a:solidFill>
                  <a:schemeClr val="dk1"/>
                </a:solidFill>
              </a:rPr>
              <a:t> Helps users recognize and respond safely to common digital-finance scams.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3. Knowledge-Based Responses</a:t>
            </a:r>
            <a:br>
              <a:rPr b="1" lang="en-US" sz="1600">
                <a:solidFill>
                  <a:schemeClr val="dk1"/>
                </a:solidFill>
              </a:rPr>
            </a:br>
            <a:r>
              <a:rPr lang="en-US" sz="1600">
                <a:solidFill>
                  <a:schemeClr val="dk1"/>
                </a:solidFill>
              </a:rPr>
              <a:t> Uses a connected financial-literacy knowledge source to improve reliability.</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4. Beginner-Friendly Communication</a:t>
            </a:r>
            <a:br>
              <a:rPr b="1" lang="en-US" sz="1600">
                <a:solidFill>
                  <a:schemeClr val="dk1"/>
                </a:solidFill>
              </a:rPr>
            </a:br>
            <a:r>
              <a:rPr lang="en-US" sz="1600">
                <a:solidFill>
                  <a:schemeClr val="dk1"/>
                </a:solidFill>
              </a:rPr>
              <a:t> Explains complex financial concepts using simple language.</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5. Responsible Financial Guidance</a:t>
            </a:r>
            <a:br>
              <a:rPr b="1" lang="en-US" sz="1600">
                <a:solidFill>
                  <a:schemeClr val="dk1"/>
                </a:solidFill>
              </a:rPr>
            </a:br>
            <a:r>
              <a:rPr lang="en-US" sz="1600">
                <a:solidFill>
                  <a:schemeClr val="dk1"/>
                </a:solidFill>
              </a:rPr>
              <a:t> Focuses on education and avoids guaranteed returns or personalized investment recommendations.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6. Multiple Financial Topics</a:t>
            </a:r>
            <a:br>
              <a:rPr b="1" lang="en-US" sz="1600">
                <a:solidFill>
                  <a:schemeClr val="dk1"/>
                </a:solidFill>
              </a:rPr>
            </a:br>
            <a:r>
              <a:rPr lang="en-US" sz="1600">
                <a:solidFill>
                  <a:schemeClr val="dk1"/>
                </a:solidFill>
              </a:rPr>
              <a:t> Covers UPI, banking safety, budgeting, savings, loans and fraud prevention.</a:t>
            </a:r>
            <a:endParaRPr sz="1600">
              <a:solidFill>
                <a:schemeClr val="dk1"/>
              </a:solidFill>
            </a:endParaRPr>
          </a:p>
          <a:p>
            <a:pPr indent="0" lvl="0" marL="0" marR="0" rtl="0" algn="l">
              <a:lnSpc>
                <a:spcPct val="100000"/>
              </a:lnSpc>
              <a:spcBef>
                <a:spcPts val="1200"/>
              </a:spcBef>
              <a:spcAft>
                <a:spcPts val="0"/>
              </a:spcAft>
              <a:buNone/>
            </a:pPr>
            <a:r>
              <a:t/>
            </a:r>
            <a:endParaRPr sz="23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224" name="Google Shape;224;p29"/>
          <p:cNvSpPr/>
          <p:nvPr/>
        </p:nvSpPr>
        <p:spPr>
          <a:xfrm>
            <a:off x="1218724" y="884487"/>
            <a:ext cx="9214500" cy="427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0"/>
              </a:spcAft>
              <a:buClr>
                <a:schemeClr val="dk1"/>
              </a:buClr>
              <a:buSzPts val="1100"/>
              <a:buFont typeface="Arial"/>
              <a:buNone/>
            </a:pPr>
            <a:r>
              <a:t/>
            </a:r>
            <a:endParaRPr b="1" sz="2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300">
                <a:solidFill>
                  <a:schemeClr val="dk1"/>
                </a:solidFill>
              </a:rPr>
              <a:t>GitHub Repository:</a:t>
            </a:r>
            <a:br>
              <a:rPr b="1" lang="en-US" sz="2300">
                <a:solidFill>
                  <a:schemeClr val="dk1"/>
                </a:solidFill>
              </a:rPr>
            </a:br>
            <a:r>
              <a:rPr lang="en-US" sz="2300">
                <a:solidFill>
                  <a:schemeClr val="dk1"/>
                </a:solidFill>
              </a:rPr>
              <a:t> </a:t>
            </a:r>
            <a:r>
              <a:rPr lang="en-US" sz="2300" u="sng">
                <a:solidFill>
                  <a:schemeClr val="hlink"/>
                </a:solidFill>
                <a:latin typeface="Roboto Mono"/>
                <a:ea typeface="Roboto Mono"/>
                <a:cs typeface="Roboto Mono"/>
                <a:sym typeface="Roboto Mono"/>
                <a:hlinkClick r:id="rId3"/>
              </a:rPr>
              <a:t>https://github.com/Shruti-Halle/finwise-ai-digital-financial-literacy</a:t>
            </a:r>
            <a:endParaRPr sz="23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b="1" lang="en-US" sz="2300">
                <a:solidFill>
                  <a:schemeClr val="dk1"/>
                </a:solidFill>
              </a:rPr>
              <a:t>Repository Contents:</a:t>
            </a:r>
            <a:endParaRPr b="1" sz="2300">
              <a:solidFill>
                <a:schemeClr val="dk1"/>
              </a:solidFill>
            </a:endParaRPr>
          </a:p>
          <a:p>
            <a:pPr indent="-374650" lvl="0" marL="457200" rtl="0" algn="l">
              <a:lnSpc>
                <a:spcPct val="115000"/>
              </a:lnSpc>
              <a:spcBef>
                <a:spcPts val="1200"/>
              </a:spcBef>
              <a:spcAft>
                <a:spcPts val="0"/>
              </a:spcAft>
              <a:buClr>
                <a:schemeClr val="dk1"/>
              </a:buClr>
              <a:buSzPts val="2300"/>
              <a:buChar char="●"/>
            </a:pPr>
            <a:r>
              <a:rPr lang="en-US" sz="2300">
                <a:solidFill>
                  <a:schemeClr val="dk1"/>
                </a:solidFill>
              </a:rPr>
              <a:t>📄 Problem Statement PDF</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 </a:t>
            </a:r>
            <a:r>
              <a:rPr lang="en-US" sz="2300">
                <a:solidFill>
                  <a:srgbClr val="188038"/>
                </a:solidFill>
                <a:latin typeface="Roboto Mono"/>
                <a:ea typeface="Roboto Mono"/>
                <a:cs typeface="Roboto Mono"/>
                <a:sym typeface="Roboto Mono"/>
              </a:rPr>
              <a:t>index.html</a:t>
            </a:r>
            <a:r>
              <a:rPr lang="en-US" sz="2300">
                <a:solidFill>
                  <a:schemeClr val="dk1"/>
                </a:solidFill>
              </a:rPr>
              <a:t> — Complete FinWise AI website</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 </a:t>
            </a:r>
            <a:r>
              <a:rPr lang="en-US" sz="2300">
                <a:solidFill>
                  <a:srgbClr val="188038"/>
                </a:solidFill>
                <a:latin typeface="Roboto Mono"/>
                <a:ea typeface="Roboto Mono"/>
                <a:cs typeface="Roboto Mono"/>
                <a:sym typeface="Roboto Mono"/>
              </a:rPr>
              <a:t>README.md</a:t>
            </a:r>
            <a:r>
              <a:rPr lang="en-US" sz="2300">
                <a:solidFill>
                  <a:schemeClr val="dk1"/>
                </a:solidFill>
              </a:rPr>
              <a:t> — Project documentation</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 Project images/screenshots</a:t>
            </a: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lang="en-US" sz="2300">
                <a:solidFill>
                  <a:schemeClr val="dk1"/>
                </a:solidFill>
              </a:rPr>
              <a:t>📊 Project Presentation (</a:t>
            </a:r>
            <a:r>
              <a:rPr lang="en-US" sz="2300">
                <a:solidFill>
                  <a:srgbClr val="188038"/>
                </a:solidFill>
                <a:latin typeface="Roboto Mono"/>
                <a:ea typeface="Roboto Mono"/>
                <a:cs typeface="Roboto Mono"/>
                <a:sym typeface="Roboto Mono"/>
              </a:rPr>
              <a:t>.pptx</a:t>
            </a:r>
            <a:r>
              <a:rPr lang="en-US" sz="2300">
                <a:solidFill>
                  <a:schemeClr val="dk1"/>
                </a:solidFill>
              </a:rPr>
              <a:t>)</a:t>
            </a:r>
            <a:endParaRPr sz="2300">
              <a:solidFill>
                <a:schemeClr val="dk1"/>
              </a:solidFill>
            </a:endParaRPr>
          </a:p>
          <a:p>
            <a:pPr indent="0" lvl="0" marL="0" marR="0" rtl="0" algn="l">
              <a:lnSpc>
                <a:spcPct val="162162"/>
              </a:lnSpc>
              <a:spcBef>
                <a:spcPts val="1200"/>
              </a:spcBef>
              <a:spcAft>
                <a:spcPts val="0"/>
              </a:spcAft>
              <a:buClr>
                <a:srgbClr val="2B3541"/>
              </a:buClr>
              <a:buSzPts val="1850"/>
              <a:buFont typeface="Times New Roman"/>
              <a:buNone/>
            </a:pPr>
            <a:r>
              <a:t/>
            </a:r>
            <a:endParaRPr sz="3050">
              <a:solidFill>
                <a:srgbClr val="2B3541"/>
              </a:solidFill>
              <a:latin typeface="Times New Roman"/>
              <a:ea typeface="Times New Roman"/>
              <a:cs typeface="Times New Roman"/>
              <a:sym typeface="Times New Roman"/>
            </a:endParaRPr>
          </a:p>
        </p:txBody>
      </p:sp>
      <p:sp>
        <p:nvSpPr>
          <p:cNvPr id="225" name="Google Shape;225;p29"/>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26" name="Google Shape;226;p29"/>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27" name="Google Shape;227;p29"/>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p:nvPr/>
        </p:nvSpPr>
        <p:spPr>
          <a:xfrm>
            <a:off x="1218724" y="420729"/>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none" cap="none" strike="noStrike">
                <a:solidFill>
                  <a:srgbClr val="000000"/>
                </a:solidFill>
                <a:latin typeface="Arial"/>
                <a:ea typeface="Arial"/>
                <a:cs typeface="Arial"/>
                <a:sym typeface="Arial"/>
              </a:rPr>
              <a:t>Future Scope </a:t>
            </a:r>
            <a:endParaRPr b="1" i="0" sz="2800" u="none" cap="none" strike="noStrike">
              <a:solidFill>
                <a:srgbClr val="000000"/>
              </a:solidFill>
              <a:latin typeface="Arial"/>
              <a:ea typeface="Arial"/>
              <a:cs typeface="Arial"/>
              <a:sym typeface="Arial"/>
            </a:endParaRPr>
          </a:p>
        </p:txBody>
      </p:sp>
      <p:sp>
        <p:nvSpPr>
          <p:cNvPr id="233" name="Google Shape;233;p30"/>
          <p:cNvSpPr/>
          <p:nvPr/>
        </p:nvSpPr>
        <p:spPr>
          <a:xfrm>
            <a:off x="1218725" y="875025"/>
            <a:ext cx="10171500" cy="532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0"/>
              </a:spcAft>
              <a:buClr>
                <a:schemeClr val="dk1"/>
              </a:buClr>
              <a:buSzPts val="1100"/>
              <a:buFont typeface="Arial"/>
              <a:buNone/>
            </a:pPr>
            <a:r>
              <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1. Multilingual Financial Assistance</a:t>
            </a:r>
            <a:br>
              <a:rPr b="1" lang="en-US" sz="1600">
                <a:solidFill>
                  <a:schemeClr val="dk1"/>
                </a:solidFill>
              </a:rPr>
            </a:br>
            <a:r>
              <a:rPr lang="en-US" sz="1600">
                <a:solidFill>
                  <a:schemeClr val="dk1"/>
                </a:solidFill>
              </a:rPr>
              <a:t> Support multiple Indian languages to make financial literacy accessible to more users.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2. Voice-Based Financial Assistant</a:t>
            </a:r>
            <a:br>
              <a:rPr b="1" lang="en-US" sz="1600">
                <a:solidFill>
                  <a:schemeClr val="dk1"/>
                </a:solidFill>
              </a:rPr>
            </a:br>
            <a:r>
              <a:rPr lang="en-US" sz="1600">
                <a:solidFill>
                  <a:schemeClr val="dk1"/>
                </a:solidFill>
              </a:rPr>
              <a:t> Allow users to ask financial questions using voice.</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3. Real-Time Fraud Alerts</a:t>
            </a:r>
            <a:br>
              <a:rPr b="1" lang="en-US" sz="1600">
                <a:solidFill>
                  <a:schemeClr val="dk1"/>
                </a:solidFill>
              </a:rPr>
            </a:br>
            <a:r>
              <a:rPr lang="en-US" sz="1600">
                <a:solidFill>
                  <a:schemeClr val="dk1"/>
                </a:solidFill>
              </a:rPr>
              <a:t> Future versions could provide updated information about emerging digital-payment scams.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4. Personalized Budgeting</a:t>
            </a:r>
            <a:br>
              <a:rPr b="1" lang="en-US" sz="1600">
                <a:solidFill>
                  <a:schemeClr val="dk1"/>
                </a:solidFill>
              </a:rPr>
            </a:br>
            <a:r>
              <a:rPr lang="en-US" sz="1600">
                <a:solidFill>
                  <a:schemeClr val="dk1"/>
                </a:solidFill>
              </a:rPr>
              <a:t> Users could optionally enter income and expenses to receive educational budgeting insights.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5. Mobile Application</a:t>
            </a:r>
            <a:br>
              <a:rPr b="1" lang="en-US" sz="1600">
                <a:solidFill>
                  <a:schemeClr val="dk1"/>
                </a:solidFill>
              </a:rPr>
            </a:br>
            <a:r>
              <a:rPr lang="en-US" sz="1600">
                <a:solidFill>
                  <a:schemeClr val="dk1"/>
                </a:solidFill>
              </a:rPr>
              <a:t> FinWise AI could be extended into a dedicated Android/iOS application.</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6. Financial Institution Integration</a:t>
            </a:r>
            <a:br>
              <a:rPr b="1" lang="en-US" sz="1600">
                <a:solidFill>
                  <a:schemeClr val="dk1"/>
                </a:solidFill>
              </a:rPr>
            </a:br>
            <a:r>
              <a:rPr lang="en-US" sz="1600">
                <a:solidFill>
                  <a:schemeClr val="dk1"/>
                </a:solidFill>
              </a:rPr>
              <a:t> Future versions could integrate verified information from banks and financial institutions.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7. Improved Knowledge Updates</a:t>
            </a:r>
            <a:br>
              <a:rPr b="1" lang="en-US" sz="1600">
                <a:solidFill>
                  <a:schemeClr val="dk1"/>
                </a:solidFill>
              </a:rPr>
            </a:br>
            <a:r>
              <a:rPr lang="en-US" sz="1600">
                <a:solidFill>
                  <a:schemeClr val="dk1"/>
                </a:solidFill>
              </a:rPr>
              <a:t> The knowledge base could be regularly updated with new financial-safety information and regulations.</a:t>
            </a:r>
            <a:endParaRPr sz="1600">
              <a:solidFill>
                <a:schemeClr val="dk1"/>
              </a:solidFill>
            </a:endParaRPr>
          </a:p>
          <a:p>
            <a:pPr indent="0" lvl="0" marL="0" marR="0" rtl="0" algn="l">
              <a:lnSpc>
                <a:spcPct val="162162"/>
              </a:lnSpc>
              <a:spcBef>
                <a:spcPts val="1200"/>
              </a:spcBef>
              <a:spcAft>
                <a:spcPts val="0"/>
              </a:spcAft>
              <a:buClr>
                <a:srgbClr val="2B3541"/>
              </a:buClr>
              <a:buSzPts val="1850"/>
              <a:buFont typeface="Times New Roman"/>
              <a:buNone/>
            </a:pPr>
            <a:r>
              <a:t/>
            </a:r>
            <a:endParaRPr b="1" sz="1600">
              <a:solidFill>
                <a:srgbClr val="2B3541"/>
              </a:solidFill>
              <a:latin typeface="Times New Roman"/>
              <a:ea typeface="Times New Roman"/>
              <a:cs typeface="Times New Roman"/>
              <a:sym typeface="Times New Roman"/>
            </a:endParaRPr>
          </a:p>
        </p:txBody>
      </p:sp>
      <p:sp>
        <p:nvSpPr>
          <p:cNvPr id="234" name="Google Shape;234;p30"/>
          <p:cNvSpPr/>
          <p:nvPr/>
        </p:nvSpPr>
        <p:spPr>
          <a:xfrm>
            <a:off x="1218724" y="3360216"/>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35" name="Google Shape;235;p30"/>
          <p:cNvSpPr/>
          <p:nvPr/>
        </p:nvSpPr>
        <p:spPr>
          <a:xfrm>
            <a:off x="1218724" y="4395464"/>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36" name="Google Shape;236;p30"/>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p31"/>
          <p:cNvSpPr txBox="1"/>
          <p:nvPr/>
        </p:nvSpPr>
        <p:spPr>
          <a:xfrm>
            <a:off x="552048" y="690061"/>
            <a:ext cx="1145313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(Getting Started with Artificial Intelligence)  </a:t>
            </a:r>
            <a:endParaRPr/>
          </a:p>
        </p:txBody>
      </p:sp>
      <p:pic>
        <p:nvPicPr>
          <p:cNvPr id="243" name="Google Shape;243;p31" title="photo_6131966886753800465_x.jpg"/>
          <p:cNvPicPr preferRelativeResize="0"/>
          <p:nvPr/>
        </p:nvPicPr>
        <p:blipFill rotWithShape="1">
          <a:blip r:embed="rId3">
            <a:alphaModFix/>
          </a:blip>
          <a:srcRect b="-1360" l="0" r="-4712" t="1360"/>
          <a:stretch/>
        </p:blipFill>
        <p:spPr>
          <a:xfrm>
            <a:off x="1773950" y="1354600"/>
            <a:ext cx="9300325" cy="5203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32" title="photo_6131966886753800468_x.jpg"/>
          <p:cNvPicPr preferRelativeResize="0"/>
          <p:nvPr/>
        </p:nvPicPr>
        <p:blipFill rotWithShape="1">
          <a:blip r:embed="rId3">
            <a:alphaModFix/>
          </a:blip>
          <a:srcRect b="0" l="2954" r="2964" t="0"/>
          <a:stretch/>
        </p:blipFill>
        <p:spPr>
          <a:xfrm>
            <a:off x="2512736" y="1712637"/>
            <a:ext cx="7177553" cy="4658577"/>
          </a:xfrm>
          <a:prstGeom prst="rect">
            <a:avLst/>
          </a:prstGeom>
          <a:noFill/>
          <a:ln>
            <a:noFill/>
          </a:ln>
        </p:spPr>
      </p:pic>
      <p:sp>
        <p:nvSpPr>
          <p:cNvPr id="249" name="Google Shape;249;p32"/>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32"/>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IBM BOB Certificate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33"/>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